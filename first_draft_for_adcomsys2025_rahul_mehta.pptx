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2" r:id="rId5"/>
    <p:sldId id="284" r:id="rId6"/>
    <p:sldId id="282" r:id="rId7"/>
    <p:sldId id="266" r:id="rId8"/>
    <p:sldId id="286" r:id="rId9"/>
    <p:sldId id="289" r:id="rId10"/>
    <p:sldId id="290" r:id="rId11"/>
    <p:sldId id="291" r:id="rId12"/>
    <p:sldId id="297" r:id="rId13"/>
    <p:sldId id="29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0"/>
    <p:restoredTop sz="94733"/>
  </p:normalViewPr>
  <p:slideViewPr>
    <p:cSldViewPr>
      <p:cViewPr varScale="1">
        <p:scale>
          <a:sx n="196" d="100"/>
          <a:sy n="196" d="100"/>
        </p:scale>
        <p:origin x="176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62D9E-5C1E-4BB0-8D18-2F20E317851F}" type="datetimeFigureOut">
              <a:rPr lang="en-IN" smtClean="0"/>
              <a:t>23/06/25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35771-F017-4194-813B-B3421E3C1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36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5771-F017-4194-813B-B3421E3C19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95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5771-F017-4194-813B-B3421E3C19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55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422d2de5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422d2de5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019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422d2de5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422d2de5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524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5771-F017-4194-813B-B3421E3C199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68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422d2de5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422d2de5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737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049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7EE63-B728-4E73-97AA-884661E3BA48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F6223-4C9E-4E70-B6FA-0F6EED7707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sveeling/pcam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image" Target="../media/image7.sv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ascopubs.org/doi/10.1200/GO.20.00122" TargetMode="External"/><Relationship Id="rId7" Type="http://schemas.openxmlformats.org/officeDocument/2006/relationships/hyperlink" Target="https://doi.org/10.1016/j.media.2019.10156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ure.uva.nl/ws/files/60770359/Thesis.pdf" TargetMode="External"/><Relationship Id="rId5" Type="http://schemas.openxmlformats.org/officeDocument/2006/relationships/hyperlink" Target="https://medium.com/swlh/geometric-deep-learning-group-equivariant-convolutional-networks-ec687c7a7b41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medium.com/intel-student-ambassadors/rotation-equivariant-convolutional-neural-network-16e279924fa4" TargetMode="Externa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" y="1501054"/>
            <a:ext cx="8915400" cy="2636691"/>
          </a:xfrm>
        </p:spPr>
        <p:txBody>
          <a:bodyPr>
            <a:noAutofit/>
          </a:bodyPr>
          <a:lstStyle/>
          <a:p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IN" sz="1800" b="1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27</a:t>
            </a:r>
            <a:r>
              <a:rPr lang="en-IN" sz="1800" b="1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June 2025</a:t>
            </a:r>
            <a:b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Organized by: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Department of Computer Science and Technology &amp;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Computer Science and Information Technology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(CST &amp; CSIT)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University of Engineering and Management, Kolkata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2667000"/>
          </a:xfrm>
        </p:spPr>
        <p:txBody>
          <a:bodyPr>
            <a:normAutofit fontScale="85000" lnSpcReduction="20000"/>
          </a:bodyPr>
          <a:lstStyle/>
          <a:p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Paper ID: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Paper Title: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Nucleus Instance Segmentation and Metastatic Tissue Identification Using Machine Learning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Author Names: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Rahul Mehta, Ankita Chatterjee, Jayanta Mukherjee, &amp; Sudipta Ghosh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Rahul Mehta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D715F-BC7B-BB70-AFF5-EF74503D46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9D6A4479-2F68-7430-F007-AC29F2F4904D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7ADF51E0-C56C-7317-3F63-9DCD7E36F040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7E38D6-BC61-CBB4-D6F4-ED81334A0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332037"/>
            <a:ext cx="6934200" cy="3535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&amp; Problem Statement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Technical Background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Model Architecture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DD472-B6FD-553D-FEDF-85CA12C4F8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A3938D58-67B0-1307-5BD0-AEFA7FDB5074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6BFC88D2-C280-FAC1-35F6-B38434F247B4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A68E4F-698D-33F9-6EE7-4B96432E0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497F0C93-CB2A-3EB0-B114-DD961C20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3AA0-0BF7-5655-E08D-CDFB4D5F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349B-FFB6-A243-953E-83CCC5DF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INTRODUCTION &amp; 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00186-3CA8-12FD-0D8F-5C86E8B5F3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90600" y="1905000"/>
            <a:ext cx="6934200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Images contains cluster of nuclei in which tumor is present.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Extraction of nuclei increase the potential of diagnosis.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 Assessments  suffer from indistinct guidable observability.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Correctly segmentation of the nucleus present in the cluster will downstream analysis of tumor 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Inherent Symmetrical property.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55A53-978F-01FD-F97A-5B131EDF5A86}"/>
              </a:ext>
            </a:extLst>
          </p:cNvPr>
          <p:cNvSpPr txBox="1"/>
          <p:nvPr/>
        </p:nvSpPr>
        <p:spPr>
          <a:xfrm>
            <a:off x="0" y="6178068"/>
            <a:ext cx="78499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 Source: </a:t>
            </a:r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GitHub - </a:t>
            </a:r>
            <a:r>
              <a:rPr lang="en-IN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basveeling</a:t>
            </a:r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/</a:t>
            </a:r>
            <a:r>
              <a:rPr lang="en-IN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pcam</a:t>
            </a:r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: The </a:t>
            </a:r>
            <a:r>
              <a:rPr lang="en-IN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PatchCamelyon</a:t>
            </a:r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 (</a:t>
            </a:r>
            <a:r>
              <a:rPr lang="en-IN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PCam</a:t>
            </a:r>
            <a:r>
              <a: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) deep learning classification benchmark.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9E954-0657-2F48-AAFE-9E404B5E4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798" y="3840275"/>
            <a:ext cx="1935392" cy="17193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28EC19-AAEA-0EA3-C007-D88244A505ED}"/>
              </a:ext>
            </a:extLst>
          </p:cNvPr>
          <p:cNvSpPr txBox="1"/>
          <p:nvPr/>
        </p:nvSpPr>
        <p:spPr>
          <a:xfrm>
            <a:off x="3192802" y="5717009"/>
            <a:ext cx="2682196" cy="369332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Histopathological Image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935CA-4EB4-57A7-0EFC-4E83202B04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9" name="Freeform 3">
            <a:extLst>
              <a:ext uri="{FF2B5EF4-FFF2-40B4-BE49-F238E27FC236}">
                <a16:creationId xmlns:a16="http://schemas.microsoft.com/office/drawing/2014/main" id="{F7ECAA14-D506-0BE6-8BFD-1AF7FCC313E5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72E41CE8-09B9-1E63-4B5C-FC0A9F65F950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1F17AE-B225-10BD-DD7B-9AD3BDCEA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45A313E2-1916-B2B8-A33B-6B349B42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85239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42203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53D7-96B5-61E5-3A1A-806A15C6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4044-7C1C-5D69-9DE7-65DF040D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78" y="1121554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THEORETICAL BACKGROUND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650302-291F-3D01-35E4-ACF85B6F04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01" b="54340"/>
          <a:stretch/>
        </p:blipFill>
        <p:spPr>
          <a:xfrm>
            <a:off x="2619826" y="2902948"/>
            <a:ext cx="3644123" cy="98755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DC9B9D-1947-CE85-C04A-DD27A18722C6}"/>
              </a:ext>
            </a:extLst>
          </p:cNvPr>
          <p:cNvSpPr/>
          <p:nvPr/>
        </p:nvSpPr>
        <p:spPr>
          <a:xfrm>
            <a:off x="3886200" y="3011251"/>
            <a:ext cx="1224107" cy="309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4235CF-4B9C-0211-20B4-8A4C3EA9489A}"/>
              </a:ext>
            </a:extLst>
          </p:cNvPr>
          <p:cNvSpPr/>
          <p:nvPr/>
        </p:nvSpPr>
        <p:spPr>
          <a:xfrm>
            <a:off x="3985679" y="2756754"/>
            <a:ext cx="1010791" cy="13499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AB3A27-06B8-4E89-F887-7A565827F556}"/>
              </a:ext>
            </a:extLst>
          </p:cNvPr>
          <p:cNvSpPr/>
          <p:nvPr/>
        </p:nvSpPr>
        <p:spPr>
          <a:xfrm>
            <a:off x="4273967" y="3111994"/>
            <a:ext cx="516835" cy="6905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A010ED-E797-346B-BBF2-7D877CD9B5B0}"/>
              </a:ext>
            </a:extLst>
          </p:cNvPr>
          <p:cNvSpPr/>
          <p:nvPr/>
        </p:nvSpPr>
        <p:spPr>
          <a:xfrm>
            <a:off x="4513878" y="3238090"/>
            <a:ext cx="417443" cy="4401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6AC736-2EEF-F899-7E21-8AC31543770B}"/>
              </a:ext>
            </a:extLst>
          </p:cNvPr>
          <p:cNvSpPr/>
          <p:nvPr/>
        </p:nvSpPr>
        <p:spPr>
          <a:xfrm>
            <a:off x="4762127" y="3407025"/>
            <a:ext cx="178201" cy="17326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1B8031-E285-9749-F14F-0B68B1FD8418}"/>
              </a:ext>
            </a:extLst>
          </p:cNvPr>
          <p:cNvSpPr txBox="1"/>
          <p:nvPr/>
        </p:nvSpPr>
        <p:spPr>
          <a:xfrm>
            <a:off x="4192361" y="3862733"/>
            <a:ext cx="606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CNN</a:t>
            </a:r>
            <a:endParaRPr lang="en-IN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77D3714E-72C0-3FA1-A81B-7BBD312ED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46106">
            <a:off x="3805779" y="3336237"/>
            <a:ext cx="208093" cy="20809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7637402-B6FF-C5C8-8182-AB49CE7EE2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45872" r="6248" b="10391"/>
          <a:stretch/>
        </p:blipFill>
        <p:spPr>
          <a:xfrm rot="10800000" flipH="1">
            <a:off x="1968897" y="5283365"/>
            <a:ext cx="3526754" cy="932017"/>
          </a:xfrm>
          <a:prstGeom prst="rect">
            <a:avLst/>
          </a:prstGeom>
          <a:effectLst/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E7F7155-F81F-1AB0-480D-07694A1BB468}"/>
              </a:ext>
            </a:extLst>
          </p:cNvPr>
          <p:cNvSpPr/>
          <p:nvPr/>
        </p:nvSpPr>
        <p:spPr>
          <a:xfrm>
            <a:off x="3203163" y="5287890"/>
            <a:ext cx="2544751" cy="971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DF247B4-1165-ECAB-69C6-AD92A941043B}"/>
              </a:ext>
            </a:extLst>
          </p:cNvPr>
          <p:cNvSpPr/>
          <p:nvPr/>
        </p:nvSpPr>
        <p:spPr>
          <a:xfrm>
            <a:off x="3466676" y="5232999"/>
            <a:ext cx="910254" cy="96530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tint val="66000"/>
                  <a:satMod val="160000"/>
                </a:schemeClr>
              </a:gs>
              <a:gs pos="50000">
                <a:schemeClr val="tx1">
                  <a:lumMod val="75000"/>
                  <a:tint val="44500"/>
                  <a:satMod val="160000"/>
                </a:schemeClr>
              </a:gs>
              <a:gs pos="100000">
                <a:schemeClr val="tx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P4ConvZ2 layer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30E46B0-34B8-5CE4-371B-D02E83C1B9F8}"/>
              </a:ext>
            </a:extLst>
          </p:cNvPr>
          <p:cNvSpPr/>
          <p:nvPr/>
        </p:nvSpPr>
        <p:spPr>
          <a:xfrm>
            <a:off x="4558845" y="5226708"/>
            <a:ext cx="910253" cy="97155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tint val="66000"/>
                  <a:satMod val="160000"/>
                </a:schemeClr>
              </a:gs>
              <a:gs pos="50000">
                <a:schemeClr val="tx1">
                  <a:lumMod val="75000"/>
                  <a:tint val="44500"/>
                  <a:satMod val="160000"/>
                </a:schemeClr>
              </a:gs>
              <a:gs pos="100000">
                <a:schemeClr val="tx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P4ConvP4 layer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89749161-8F73-AAD5-299D-9A173530C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219273">
            <a:off x="5779603" y="5233615"/>
            <a:ext cx="968693" cy="971550"/>
          </a:xfrm>
          <a:prstGeom prst="rect">
            <a:avLst/>
          </a:prstGeom>
        </p:spPr>
      </p:pic>
      <p:sp>
        <p:nvSpPr>
          <p:cNvPr id="62" name="Title 3">
            <a:extLst>
              <a:ext uri="{FF2B5EF4-FFF2-40B4-BE49-F238E27FC236}">
                <a16:creationId xmlns:a16="http://schemas.microsoft.com/office/drawing/2014/main" id="{889FCCEE-3D50-F467-B0BE-F416F9FA1C45}"/>
              </a:ext>
            </a:extLst>
          </p:cNvPr>
          <p:cNvSpPr txBox="1">
            <a:spLocks/>
          </p:cNvSpPr>
          <p:nvPr/>
        </p:nvSpPr>
        <p:spPr>
          <a:xfrm>
            <a:off x="3216634" y="6129858"/>
            <a:ext cx="3047315" cy="376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Equivariant Convolution  layer </a:t>
            </a:r>
            <a:endParaRPr lang="en-IN" sz="1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71BD0919-3178-A371-CEF6-871A04AAD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46106">
            <a:off x="3122918" y="5577745"/>
            <a:ext cx="356786" cy="35678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0D94DCBA-7BB3-0749-8F8C-F07E03F0640B}"/>
              </a:ext>
            </a:extLst>
          </p:cNvPr>
          <p:cNvSpPr/>
          <p:nvPr/>
        </p:nvSpPr>
        <p:spPr>
          <a:xfrm>
            <a:off x="3924296" y="4483474"/>
            <a:ext cx="1035181" cy="6039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G-CNN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553F2F3-F3C0-C591-4188-66E0D61319E1}"/>
              </a:ext>
            </a:extLst>
          </p:cNvPr>
          <p:cNvCxnSpPr>
            <a:cxnSpLocks/>
            <a:stCxn id="65" idx="1"/>
          </p:cNvCxnSpPr>
          <p:nvPr/>
        </p:nvCxnSpPr>
        <p:spPr>
          <a:xfrm flipH="1">
            <a:off x="3527409" y="4785465"/>
            <a:ext cx="396887" cy="423445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1614DAB-30A9-DD66-05CD-3DC2C419ECE9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4959477" y="4785465"/>
            <a:ext cx="393510" cy="452617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DC2E2A89-EFAD-3BB2-18E7-6EA1AB17D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46106">
            <a:off x="5426858" y="5577746"/>
            <a:ext cx="356786" cy="356786"/>
          </a:xfrm>
          <a:prstGeom prst="rect">
            <a:avLst/>
          </a:prstGeom>
        </p:spPr>
      </p:pic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B4CA6D46-8E5E-6244-E684-B1D4519B7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46106">
            <a:off x="4305198" y="5605834"/>
            <a:ext cx="356786" cy="356786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935D6515-AB58-37C8-2477-96E457DE9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46106">
            <a:off x="4988453" y="3361902"/>
            <a:ext cx="208093" cy="20809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086AB91-FB31-12F0-9352-E9C39100B901}"/>
              </a:ext>
            </a:extLst>
          </p:cNvPr>
          <p:cNvSpPr/>
          <p:nvPr/>
        </p:nvSpPr>
        <p:spPr>
          <a:xfrm>
            <a:off x="6517985" y="3124817"/>
            <a:ext cx="1524000" cy="5644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Rotationally Variant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EB80FA3-DC6C-3B9C-047C-DDBB5B5CF4CF}"/>
              </a:ext>
            </a:extLst>
          </p:cNvPr>
          <p:cNvSpPr/>
          <p:nvPr/>
        </p:nvSpPr>
        <p:spPr>
          <a:xfrm>
            <a:off x="6850334" y="5288188"/>
            <a:ext cx="1524000" cy="5644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Rotationally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Invariant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9C021E3-6640-0188-F3D4-944B8E66ADB5}"/>
                  </a:ext>
                </a:extLst>
              </p:cNvPr>
              <p:cNvSpPr/>
              <p:nvPr/>
            </p:nvSpPr>
            <p:spPr>
              <a:xfrm>
                <a:off x="11244" y="4016621"/>
                <a:ext cx="1524000" cy="56441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Rotated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Input Images</a:t>
                </a: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9C021E3-6640-0188-F3D4-944B8E66A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" y="4016621"/>
                <a:ext cx="1524000" cy="564415"/>
              </a:xfrm>
              <a:prstGeom prst="rect">
                <a:avLst/>
              </a:prstGeom>
              <a:blipFill>
                <a:blip r:embed="rId7"/>
                <a:stretch>
                  <a:fillRect l="-1181" t="-10417" r="-3543" b="-2187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Left Brace 78">
            <a:extLst>
              <a:ext uri="{FF2B5EF4-FFF2-40B4-BE49-F238E27FC236}">
                <a16:creationId xmlns:a16="http://schemas.microsoft.com/office/drawing/2014/main" id="{890B2E18-954E-C750-DF0B-3D296086C08A}"/>
              </a:ext>
            </a:extLst>
          </p:cNvPr>
          <p:cNvSpPr/>
          <p:nvPr/>
        </p:nvSpPr>
        <p:spPr>
          <a:xfrm>
            <a:off x="1351384" y="2940166"/>
            <a:ext cx="511639" cy="28334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A53CD67-9E52-43C1-D37C-F88297D83D82}"/>
              </a:ext>
            </a:extLst>
          </p:cNvPr>
          <p:cNvSpPr/>
          <p:nvPr/>
        </p:nvSpPr>
        <p:spPr>
          <a:xfrm>
            <a:off x="6545957" y="2250029"/>
            <a:ext cx="2573922" cy="5644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Output Feature Maps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F694B5-5EF9-C377-18EF-1F30AD862516}"/>
              </a:ext>
            </a:extLst>
          </p:cNvPr>
          <p:cNvSpPr/>
          <p:nvPr/>
        </p:nvSpPr>
        <p:spPr>
          <a:xfrm>
            <a:off x="304800" y="2133600"/>
            <a:ext cx="4254045" cy="345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Group Equivariant Convolution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266EE-C076-1952-BE79-51968E6DC47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9ECA57D9-0990-6EE9-4628-490AF99ADDD9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D5A9FF2-D25E-84AA-C9E6-DE23AA25FA44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B7CF8F-9607-8499-ECF2-A74D0E2FAB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BCDB5910-2DAE-A01E-D28F-A0384DD1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368305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1" y="2085925"/>
            <a:ext cx="8380355" cy="3340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dirty="0">
              <a:solidFill>
                <a:srgbClr val="000000"/>
              </a:solidFill>
              <a:latin typeface="Sitka Text" pitchFamily="2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Sitka Text" pitchFamily="2" charset="0"/>
              </a:rPr>
              <a:t>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" y="2411494"/>
            <a:ext cx="879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ea typeface="Calibri" panose="020F0502020204030204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BA328F-9C64-6E8E-6A06-F3D32A01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0" y="1709395"/>
            <a:ext cx="2507700" cy="454208"/>
          </a:xfrm>
        </p:spPr>
        <p:txBody>
          <a:bodyPr>
            <a:normAutofit fontScale="9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P4convZ2 Layer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A51C0B-C257-C139-8CDB-3AF1E814A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34" y="3212995"/>
            <a:ext cx="5525297" cy="2362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F2164-D2AE-14BE-311A-8ABA01068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796" y="3308304"/>
            <a:ext cx="3550013" cy="2115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50C76D-2C00-C65D-93D1-09FA4AE3F5A0}"/>
              </a:ext>
            </a:extLst>
          </p:cNvPr>
          <p:cNvSpPr txBox="1"/>
          <p:nvPr/>
        </p:nvSpPr>
        <p:spPr>
          <a:xfrm>
            <a:off x="301188" y="4736477"/>
            <a:ext cx="147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2DFDD-D38A-7824-0AB9-1D08FFA95B1B}"/>
              </a:ext>
            </a:extLst>
          </p:cNvPr>
          <p:cNvSpPr txBox="1"/>
          <p:nvPr/>
        </p:nvSpPr>
        <p:spPr>
          <a:xfrm>
            <a:off x="1289299" y="4366097"/>
            <a:ext cx="147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AA01E-716D-57FA-FEFC-73E4812B76E6}"/>
              </a:ext>
            </a:extLst>
          </p:cNvPr>
          <p:cNvSpPr txBox="1"/>
          <p:nvPr/>
        </p:nvSpPr>
        <p:spPr>
          <a:xfrm>
            <a:off x="5665993" y="5395850"/>
            <a:ext cx="1224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Maps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017D6-B0DB-DDA3-E20C-77C066B9BA62}"/>
              </a:ext>
            </a:extLst>
          </p:cNvPr>
          <p:cNvSpPr txBox="1"/>
          <p:nvPr/>
        </p:nvSpPr>
        <p:spPr>
          <a:xfrm>
            <a:off x="7086601" y="5235354"/>
            <a:ext cx="2183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different space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A6DC4-1A6B-1592-B9C0-23E033DA02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5285E-1949-6559-DB1A-E5C061F1C586}"/>
              </a:ext>
            </a:extLst>
          </p:cNvPr>
          <p:cNvSpPr txBox="1"/>
          <p:nvPr/>
        </p:nvSpPr>
        <p:spPr>
          <a:xfrm>
            <a:off x="357352" y="2212521"/>
            <a:ext cx="8115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structure of feature maps for next layer.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Rotation of filters instead image to reduce the computation overhead.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 of Extra Dimensionality.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F74119-5C00-CD3A-3F16-7EFDC213C11D}"/>
              </a:ext>
            </a:extLst>
          </p:cNvPr>
          <p:cNvSpPr txBox="1"/>
          <p:nvPr/>
        </p:nvSpPr>
        <p:spPr>
          <a:xfrm>
            <a:off x="2643141" y="5469952"/>
            <a:ext cx="2711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Convolution operation on group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8184AF-3E91-720A-BDD9-E64C8E8E578E}"/>
              </a:ext>
            </a:extLst>
          </p:cNvPr>
          <p:cNvSpPr txBox="1">
            <a:spLocks/>
          </p:cNvSpPr>
          <p:nvPr/>
        </p:nvSpPr>
        <p:spPr>
          <a:xfrm>
            <a:off x="482247" y="1169008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THEORETICAL BACKGROUND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4B728-CB25-19CA-BE85-151FA56B9F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9" name="Freeform 3">
            <a:extLst>
              <a:ext uri="{FF2B5EF4-FFF2-40B4-BE49-F238E27FC236}">
                <a16:creationId xmlns:a16="http://schemas.microsoft.com/office/drawing/2014/main" id="{8D40EAA5-22C9-49E2-A5A5-1715158E666E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5175037B-1DA9-AB4D-6A22-F793D22283CB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766728-24F6-D1A7-1C4B-BFC260D39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19" name="Footer Placeholder 13">
            <a:extLst>
              <a:ext uri="{FF2B5EF4-FFF2-40B4-BE49-F238E27FC236}">
                <a16:creationId xmlns:a16="http://schemas.microsoft.com/office/drawing/2014/main" id="{876D7DE6-D45E-D7EA-DBC8-73E8CF0DAAD5}"/>
              </a:ext>
            </a:extLst>
          </p:cNvPr>
          <p:cNvSpPr txBox="1">
            <a:spLocks/>
          </p:cNvSpPr>
          <p:nvPr/>
        </p:nvSpPr>
        <p:spPr>
          <a:xfrm>
            <a:off x="1447800" y="6491565"/>
            <a:ext cx="1167877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(AdComSys 2025)</a:t>
            </a:r>
            <a:endParaRPr lang="en-US" sz="11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23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1" y="2085925"/>
            <a:ext cx="8380355" cy="3340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dirty="0">
              <a:solidFill>
                <a:srgbClr val="000000"/>
              </a:solidFill>
              <a:latin typeface="Sitka Text" pitchFamily="2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Sitka Text" pitchFamily="2" charset="0"/>
              </a:rPr>
              <a:t>          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BA328F-9C64-6E8E-6A06-F3D32A01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168" y="1657701"/>
            <a:ext cx="2736300" cy="53968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</a:rPr>
              <a:t>P4convP4 layer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5AD99-81F0-0295-E63F-A06A8277D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2" y="2106173"/>
            <a:ext cx="6080646" cy="3123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7EB99F-D99F-EFBF-AED6-78A820DAC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419" y="3000841"/>
            <a:ext cx="2019300" cy="176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E266CC-3311-592A-F6D8-74E741648059}"/>
                  </a:ext>
                </a:extLst>
              </p:cNvPr>
              <p:cNvSpPr txBox="1"/>
              <p:nvPr/>
            </p:nvSpPr>
            <p:spPr>
              <a:xfrm>
                <a:off x="6672756" y="3648304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E266CC-3311-592A-F6D8-74E741648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56" y="3648304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1E4A7-6FAF-A275-E7D0-601528B630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B3D377-3722-281F-0784-FE30BD5D233D}"/>
              </a:ext>
            </a:extLst>
          </p:cNvPr>
          <p:cNvSpPr/>
          <p:nvPr/>
        </p:nvSpPr>
        <p:spPr>
          <a:xfrm>
            <a:off x="3303105" y="5279032"/>
            <a:ext cx="3553997" cy="59556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Permutation step and Dot product with identical structures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09D434-CA11-5F9A-2109-E5340F46D349}"/>
              </a:ext>
            </a:extLst>
          </p:cNvPr>
          <p:cNvSpPr/>
          <p:nvPr/>
        </p:nvSpPr>
        <p:spPr>
          <a:xfrm>
            <a:off x="7209064" y="4700364"/>
            <a:ext cx="1812094" cy="393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Feature 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FCBDD5-2B1A-17CE-0D5C-33D9E7BDC481}"/>
              </a:ext>
            </a:extLst>
          </p:cNvPr>
          <p:cNvSpPr/>
          <p:nvPr/>
        </p:nvSpPr>
        <p:spPr>
          <a:xfrm>
            <a:off x="253650" y="5074003"/>
            <a:ext cx="1289400" cy="393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0F1D1-2716-34D7-45CD-544824310809}"/>
              </a:ext>
            </a:extLst>
          </p:cNvPr>
          <p:cNvSpPr txBox="1">
            <a:spLocks/>
          </p:cNvSpPr>
          <p:nvPr/>
        </p:nvSpPr>
        <p:spPr>
          <a:xfrm>
            <a:off x="482247" y="1169008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SzPts val="42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THEORETICAL BACKGROUND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69FD5-50EE-7497-6FB8-7F8858B6B2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AC988D67-80D7-303F-B65C-E0A89F90983A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2A807DA2-411A-DFB0-D03D-88C2E191382E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52B091-015A-CBAA-72EB-02570693F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9D1FB6B9-5D14-D744-FAEA-09692C3330B6}"/>
              </a:ext>
            </a:extLst>
          </p:cNvPr>
          <p:cNvSpPr txBox="1">
            <a:spLocks/>
          </p:cNvSpPr>
          <p:nvPr/>
        </p:nvSpPr>
        <p:spPr>
          <a:xfrm>
            <a:off x="1676400" y="6527202"/>
            <a:ext cx="1167877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(AdComSys 2025)</a:t>
            </a:r>
            <a:endParaRPr lang="en-US" sz="11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2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48228-88D6-71FD-9B56-C550B345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29BE-3DC2-9E8D-9690-93DFBCE4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98" y="12192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MODEL ARCHITECTURE</a:t>
            </a:r>
            <a:br>
              <a:rPr lang="en-US" sz="2400" b="1" u="sng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FOR CLASSIFICATION TASK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E5FCE-7DE7-C102-CA1A-3CA78E88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54" y="2286000"/>
            <a:ext cx="8508104" cy="4280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B8288B-3293-B62A-FA39-D3B1AFDAE1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2F31D0FB-E32F-456E-8CD9-080A64EC58DA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CCF76E90-5EF3-1C88-D1F9-9BE696325E75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47013-386C-696A-3D57-A0F42C046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9ADC5514-6E84-0BCD-4BF4-80A064E9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17315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07801-05EA-C488-0C1E-809A6E90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4FB0-99DE-B5BF-3B2B-D668BCEE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15569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MODEL ARCHITECTURE</a:t>
            </a:r>
            <a:br>
              <a:rPr lang="en-US" sz="2400" b="1" u="sng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FOR SEGMENTATION TASK</a:t>
            </a:r>
            <a:br>
              <a:rPr lang="en-US" sz="2400" b="1" u="sng" dirty="0">
                <a:latin typeface="Times New Roman" pitchFamily="18" charset="0"/>
                <a:cs typeface="Times New Roman" pitchFamily="18" charset="0"/>
              </a:rPr>
            </a:br>
            <a:endParaRPr lang="en-US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9B67DA-0C03-3C94-9F14-3B889361B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911483"/>
            <a:ext cx="8305800" cy="48117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0EE424-53EC-72B6-DF0F-6ABF15A11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F05B0B93-A39B-FFBD-2B61-F2BEA9CF8385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AE1A9BC-5F9C-6EAE-D5E5-02E9BFC9F9A6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35308-B99F-4062-FED5-EC8973CA3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27B401A-2F7A-BF28-8F58-D0CB7239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256531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0BCF-42C6-694E-2489-99AA2B50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F3A8-9507-08B0-5508-67D829DB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995679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D39CF6-8D3F-4C98-420C-F6EA54E26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40" y="1973454"/>
            <a:ext cx="6683319" cy="29110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8A7D740-FF05-037B-D2A5-C14C1C2C81AC}"/>
              </a:ext>
            </a:extLst>
          </p:cNvPr>
          <p:cNvSpPr/>
          <p:nvPr/>
        </p:nvSpPr>
        <p:spPr>
          <a:xfrm>
            <a:off x="739325" y="4886057"/>
            <a:ext cx="7589149" cy="422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Classification</a:t>
            </a:r>
            <a:r>
              <a:rPr lang="en-US" dirty="0"/>
              <a:t>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on the PCAM dataset with a similar parameter budget.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EDAAE-77A2-9D24-6165-2B4A9E2C9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9509335D-0178-6027-1644-B382BBFFE419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845B785-418A-660A-940D-8D2FF53310C1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7132D-FE38-5454-A373-DBD960712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1B6FCE2F-7951-F067-553C-12812CCA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422957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EA89-93C5-25A9-FE94-ABDCA572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F797-7E54-FA7D-89AB-D72F5AA9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8BAFF-1C03-5E02-A3EC-53F648F09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95" y="2286000"/>
            <a:ext cx="6530906" cy="25681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B41F27-4D21-DFDA-7327-D9E19CF6B807}"/>
              </a:ext>
            </a:extLst>
          </p:cNvPr>
          <p:cNvSpPr/>
          <p:nvPr/>
        </p:nvSpPr>
        <p:spPr>
          <a:xfrm>
            <a:off x="1317048" y="4869596"/>
            <a:ext cx="6096000" cy="485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Nuclear Segmentation Results on the Kumar et al. Dataset.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AE4984-326E-F27A-D7D8-8AC56F412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876351E2-1712-73E0-38C4-EF66B3462258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0BDA568-CD55-B78C-CEAC-050598294FA8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42AF9-F2E5-CDCF-2167-705E19A8F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30208592-38CA-AC5C-DE44-02F268F8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7364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4444-E7EB-B28D-F1B4-22E88EA0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1D81-2411-E105-6628-A0923E11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CONCLUSIONS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F13AD97-5CB4-35F7-FEE6-9B3EE730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00699"/>
            <a:ext cx="7848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equivariant convolutions aid in medical image tasks like nucleus segmentation and feature extraction.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methods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HoverNet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rely on dense,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pre-trained models due to limited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-style architecture with group equivariant layers.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weight-sharing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pre-training needed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small datasets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compact, adaptable solution for segmentation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E1D25-3285-C4C2-3DE8-AC9E4E7676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7D54939B-7B5B-2F4A-FFF3-989DD62E63CE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B8EB5DD-186D-09D1-2881-9045C92EBC54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92FC1-B3A5-5449-AA04-DC1E60F3C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53A1D8ED-58BB-1D7F-A611-39D55649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447800" y="6449183"/>
            <a:ext cx="11678776" cy="365125"/>
          </a:xfrm>
        </p:spPr>
        <p:txBody>
          <a:bodyPr/>
          <a:lstStyle/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1211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1" y="2085925"/>
            <a:ext cx="8380355" cy="3340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Sitka Text" pitchFamily="2" charset="0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42" y="2085926"/>
            <a:ext cx="70908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Cancer Statistics, 2020: Report From National Cancer Registry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India | JCO Global Oncology (ascopubs.org)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Rotation Equivariant Convolutional Neural Network | by Anuj Ahuja | Intel Student Ambassadors | Medium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Geometric Deep Learning: Group Equivariant Convolutional Networks | by Casper van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Engelenburg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The Startup | Medium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Thesis for modified convolution in all respects (uva.nl)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Hover-net paper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S. Graham, D. Epstein and N. Rajpoot, "Dense Steerable Filter CNNs for Exploiting Rotational Symmetry in Histology Images," in IEEE Transactions on Medical Imaging, vol. 39, no. 12, pp. 4124-4136, Dec. 2020,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10.1109/TMI.2020.3013246.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BA328F-9C64-6E8E-6A06-F3D32A01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77" y="1443556"/>
            <a:ext cx="8520600" cy="801000"/>
          </a:xfrm>
        </p:spPr>
        <p:txBody>
          <a:bodyPr>
            <a:normAutofit/>
          </a:bodyPr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sz="2000" dirty="0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87AE9-69B6-CD20-BD4F-6ADE03418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B02BD-07D9-7F86-642B-E6A85BCF84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842790" cy="1192140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47E7BE50-AA66-F56B-E0F9-791E29F975AD}"/>
              </a:ext>
            </a:extLst>
          </p:cNvPr>
          <p:cNvSpPr/>
          <p:nvPr/>
        </p:nvSpPr>
        <p:spPr>
          <a:xfrm>
            <a:off x="228600" y="201937"/>
            <a:ext cx="922506" cy="716165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6E0D2CF0-EC62-DD10-7196-C12211CC8D11}"/>
              </a:ext>
            </a:extLst>
          </p:cNvPr>
          <p:cNvSpPr/>
          <p:nvPr/>
        </p:nvSpPr>
        <p:spPr>
          <a:xfrm>
            <a:off x="8001000" y="226254"/>
            <a:ext cx="908768" cy="667533"/>
          </a:xfrm>
          <a:custGeom>
            <a:avLst/>
            <a:gdLst/>
            <a:ahLst/>
            <a:cxnLst/>
            <a:rect l="l" t="t" r="r" b="b"/>
            <a:pathLst>
              <a:path w="967804" h="674363">
                <a:moveTo>
                  <a:pt x="0" y="0"/>
                </a:moveTo>
                <a:lnTo>
                  <a:pt x="967804" y="0"/>
                </a:lnTo>
                <a:lnTo>
                  <a:pt x="967804" y="674363"/>
                </a:lnTo>
                <a:lnTo>
                  <a:pt x="0" y="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1B470-E863-FF31-D667-FDB2DCB0E6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262303"/>
            <a:ext cx="2416410" cy="667533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D4684B5-14AE-74FE-DF1D-4BDA734F31BD}"/>
              </a:ext>
            </a:extLst>
          </p:cNvPr>
          <p:cNvSpPr txBox="1">
            <a:spLocks/>
          </p:cNvSpPr>
          <p:nvPr/>
        </p:nvSpPr>
        <p:spPr>
          <a:xfrm>
            <a:off x="1905000" y="6559860"/>
            <a:ext cx="1167877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International Conference on Advanced Computing and Systems (</a:t>
            </a:r>
            <a:r>
              <a:rPr lang="en-US" sz="11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AdComSys</a:t>
            </a:r>
            <a:r>
              <a:rPr lang="en-US" sz="1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3416684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9B565BA-ED2B-2444-CC71-80F633B6C8FC}"/>
              </a:ext>
            </a:extLst>
          </p:cNvPr>
          <p:cNvSpPr txBox="1">
            <a:spLocks/>
          </p:cNvSpPr>
          <p:nvPr/>
        </p:nvSpPr>
        <p:spPr>
          <a:xfrm>
            <a:off x="1262373" y="2667000"/>
            <a:ext cx="5618700" cy="1828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i="1">
                <a:latin typeface="Calibri" panose="020F0502020204030204" pitchFamily="34" charset="0"/>
              </a:rPr>
              <a:t>THANK YOU</a:t>
            </a:r>
            <a:endParaRPr lang="en-IN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94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656</Words>
  <Application>Microsoft Macintosh PowerPoint</Application>
  <PresentationFormat>On-screen Show (4:3)</PresentationFormat>
  <Paragraphs>105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Sitka Text</vt:lpstr>
      <vt:lpstr>Times New Roman</vt:lpstr>
      <vt:lpstr>Wingdings</vt:lpstr>
      <vt:lpstr>Office Theme</vt:lpstr>
      <vt:lpstr> Second International Conference on Advanced Computing and Systems  (AdComSys 2025) 26th – 27th June 2025  Organized by: Department of Computer Science and Technology &amp; Computer Science and Information Technology (CST &amp; CSIT) University of Engineering and Management, Kolkata </vt:lpstr>
      <vt:lpstr>CONTENTS</vt:lpstr>
      <vt:lpstr>INTRODUCTION &amp; PROBLEM STATEMENT</vt:lpstr>
      <vt:lpstr>THEORETICAL BACKGROUND</vt:lpstr>
      <vt:lpstr>P4convZ2 Layer </vt:lpstr>
      <vt:lpstr>P4convP4 layer </vt:lpstr>
      <vt:lpstr>MODEL ARCHITECTURE FOR CLASSIFICATION TASK</vt:lpstr>
      <vt:lpstr>MODEL ARCHITECTURE FOR SEGMENTATION TASK </vt:lpstr>
      <vt:lpstr>RESULTS</vt:lpstr>
      <vt:lpstr>RESULTS</vt:lpstr>
      <vt:lpstr>CONCLUSIONS</vt:lpstr>
      <vt:lpstr>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International Conference on Advanced Computing and Systems AdComSys 2024 Organized by: Department of Computer Science and Technology &amp; Computer Science and Information Technology (CST &amp; CSIT) University of Engineering and Management, Kolkata (26th and 27th June, 2024)</dc:title>
  <dc:creator>UEMK</dc:creator>
  <cp:lastModifiedBy>Rahul Mehta</cp:lastModifiedBy>
  <cp:revision>16</cp:revision>
  <dcterms:created xsi:type="dcterms:W3CDTF">2024-06-18T05:33:25Z</dcterms:created>
  <dcterms:modified xsi:type="dcterms:W3CDTF">2025-06-23T07:32:44Z</dcterms:modified>
</cp:coreProperties>
</file>